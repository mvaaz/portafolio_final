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sldIdLst>
    <p:sldId id="256" r:id="rId2"/>
    <p:sldId id="257" r:id="rId3"/>
    <p:sldId id="265" r:id="rId4"/>
    <p:sldId id="266" r:id="rId5"/>
    <p:sldId id="267" r:id="rId6"/>
    <p:sldId id="268" r:id="rId7"/>
    <p:sldId id="269" r:id="rId8"/>
    <p:sldId id="264" r:id="rId9"/>
    <p:sldId id="260" r:id="rId10"/>
    <p:sldId id="261" r:id="rId11"/>
    <p:sldId id="262"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a:xfrm>
            <a:off x="3962399" y="5870575"/>
            <a:ext cx="4893958" cy="377825"/>
          </a:xfrm>
        </p:spPr>
        <p:txBody>
          <a:bodyPr/>
          <a:lstStyle/>
          <a:p>
            <a:endParaRPr lang="es-MX"/>
          </a:p>
        </p:txBody>
      </p:sp>
      <p:sp>
        <p:nvSpPr>
          <p:cNvPr id="6" name="Slide Number Placeholder 5"/>
          <p:cNvSpPr>
            <a:spLocks noGrp="1"/>
          </p:cNvSpPr>
          <p:nvPr>
            <p:ph type="sldNum" sz="quarter" idx="12"/>
          </p:nvPr>
        </p:nvSpPr>
        <p:spPr>
          <a:xfrm>
            <a:off x="10608958" y="5870575"/>
            <a:ext cx="551167" cy="377825"/>
          </a:xfrm>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61758072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3651571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312606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BF18F92-B150-445A-9FD5-929E4DBBD129}" type="datetimeFigureOut">
              <a:rPr lang="es-MX" smtClean="0"/>
              <a:t>16/10/2025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2739550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BF18F92-B150-445A-9FD5-929E4DBBD129}" type="datetimeFigureOut">
              <a:rPr lang="es-MX" smtClean="0"/>
              <a:t>16/10/2025</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4104868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BF18F92-B150-445A-9FD5-929E4DBBD129}" type="datetimeFigureOut">
              <a:rPr lang="es-MX" smtClean="0"/>
              <a:t>16/10/2025</a:t>
            </a:fld>
            <a:endParaRPr lang="es-MX"/>
          </a:p>
        </p:txBody>
      </p:sp>
      <p:sp>
        <p:nvSpPr>
          <p:cNvPr id="4" name="Footer Placeholder 3"/>
          <p:cNvSpPr>
            <a:spLocks noGrp="1"/>
          </p:cNvSpPr>
          <p:nvPr>
            <p:ph type="ftr" sz="quarter" idx="11"/>
          </p:nvPr>
        </p:nvSpPr>
        <p:spPr/>
        <p:txBody>
          <a:bodyPr/>
          <a:lstStyle/>
          <a:p>
            <a:endParaRPr lang="es-MX"/>
          </a:p>
        </p:txBody>
      </p:sp>
      <p:sp>
        <p:nvSpPr>
          <p:cNvPr id="5" name="Slide Number Placeholder 4"/>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613927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ABF18F92-B150-445A-9FD5-929E4DBBD129}" type="datetimeFigureOut">
              <a:rPr lang="es-MX" smtClean="0"/>
              <a:t>16/10/2025</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25152005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BF18F92-B150-445A-9FD5-929E4DBBD129}" type="datetimeFigureOut">
              <a:rPr lang="es-MX" smtClean="0"/>
              <a:t>16/10/2025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3832671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BF18F92-B150-445A-9FD5-929E4DBBD129}" type="datetimeFigureOut">
              <a:rPr lang="es-MX" smtClean="0"/>
              <a:t>16/10/2025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224073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BF18F92-B150-445A-9FD5-929E4DBBD129}" type="datetimeFigureOut">
              <a:rPr lang="es-MX" smtClean="0"/>
              <a:t>16/10/2025</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3067387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20870001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27489830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71946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36773958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s-ES"/>
              <a:t>Haga clic para modificar los estilos de texto del patrón</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9009571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
        <p:nvSpPr>
          <p:cNvPr id="8" name="Title 1"/>
          <p:cNvSpPr>
            <a:spLocks noGrp="1"/>
          </p:cNvSpPr>
          <p:nvPr>
            <p:ph type="title"/>
          </p:nvPr>
        </p:nvSpPr>
        <p:spPr>
          <a:xfrm>
            <a:off x="685801" y="609600"/>
            <a:ext cx="10131425" cy="1456267"/>
          </a:xfrm>
        </p:spPr>
        <p:txBody>
          <a:bodyPr/>
          <a:lstStyle/>
          <a:p>
            <a:r>
              <a:rPr lang="es-ES"/>
              <a:t>Haga clic para modificar el estilo de título del patrón</a:t>
            </a:r>
            <a:endParaRPr lang="en-US" dirty="0"/>
          </a:p>
        </p:txBody>
      </p:sp>
    </p:spTree>
    <p:extLst>
      <p:ext uri="{BB962C8B-B14F-4D97-AF65-F5344CB8AC3E}">
        <p14:creationId xmlns:p14="http://schemas.microsoft.com/office/powerpoint/2010/main" val="6845043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BF18F92-B150-445A-9FD5-929E4DBBD129}" type="datetimeFigureOut">
              <a:rPr lang="es-MX" smtClean="0"/>
              <a:t>16/10/2025</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3A17F0E5-F03B-4CFD-8474-E01065719A43}" type="slidenum">
              <a:rPr lang="es-MX" smtClean="0"/>
              <a:t>‹Nº›</a:t>
            </a:fld>
            <a:endParaRPr lang="es-MX"/>
          </a:p>
        </p:txBody>
      </p:sp>
    </p:spTree>
    <p:extLst>
      <p:ext uri="{BB962C8B-B14F-4D97-AF65-F5344CB8AC3E}">
        <p14:creationId xmlns:p14="http://schemas.microsoft.com/office/powerpoint/2010/main" val="76982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BF18F92-B150-445A-9FD5-929E4DBBD129}" type="datetimeFigureOut">
              <a:rPr lang="es-MX" smtClean="0"/>
              <a:t>16/10/2025</a:t>
            </a:fld>
            <a:endParaRPr lang="es-MX"/>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MX"/>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A17F0E5-F03B-4CFD-8474-E01065719A43}" type="slidenum">
              <a:rPr lang="es-MX" smtClean="0"/>
              <a:t>‹Nº›</a:t>
            </a:fld>
            <a:endParaRPr lang="es-MX"/>
          </a:p>
        </p:txBody>
      </p:sp>
    </p:spTree>
    <p:extLst>
      <p:ext uri="{BB962C8B-B14F-4D97-AF65-F5344CB8AC3E}">
        <p14:creationId xmlns:p14="http://schemas.microsoft.com/office/powerpoint/2010/main" val="4290414401"/>
      </p:ext>
    </p:extLst>
  </p:cSld>
  <p:clrMap bg1="dk1" tx1="lt1" bg2="dk2" tx2="lt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 id="2147483816" r:id="rId12"/>
    <p:sldLayoutId id="2147483817" r:id="rId13"/>
    <p:sldLayoutId id="2147483818" r:id="rId14"/>
    <p:sldLayoutId id="2147483819" r:id="rId15"/>
    <p:sldLayoutId id="2147483820" r:id="rId16"/>
    <p:sldLayoutId id="214748382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0BFC57-F318-B744-2ACB-2038EFD113F5}"/>
              </a:ext>
            </a:extLst>
          </p:cNvPr>
          <p:cNvSpPr>
            <a:spLocks noGrp="1"/>
          </p:cNvSpPr>
          <p:nvPr>
            <p:ph type="ctrTitle"/>
          </p:nvPr>
        </p:nvSpPr>
        <p:spPr>
          <a:xfrm>
            <a:off x="1015803" y="202401"/>
            <a:ext cx="10615758" cy="2412979"/>
          </a:xfrm>
        </p:spPr>
        <p:txBody>
          <a:bodyPr>
            <a:normAutofit/>
          </a:bodyPr>
          <a:lstStyle/>
          <a:p>
            <a:pPr algn="ctr"/>
            <a:r>
              <a:rPr lang="es-MX" dirty="0"/>
              <a:t>Ordenamiento por montículos (</a:t>
            </a:r>
            <a:r>
              <a:rPr lang="es-MX" dirty="0" err="1"/>
              <a:t>Heapsort</a:t>
            </a:r>
            <a:r>
              <a:rPr lang="es-MX" dirty="0"/>
              <a:t>)</a:t>
            </a:r>
          </a:p>
        </p:txBody>
      </p:sp>
      <p:sp>
        <p:nvSpPr>
          <p:cNvPr id="3" name="Subtítulo 2">
            <a:extLst>
              <a:ext uri="{FF2B5EF4-FFF2-40B4-BE49-F238E27FC236}">
                <a16:creationId xmlns:a16="http://schemas.microsoft.com/office/drawing/2014/main" id="{409A5EF3-0907-E2F1-8255-2615E3C70BD7}"/>
              </a:ext>
            </a:extLst>
          </p:cNvPr>
          <p:cNvSpPr>
            <a:spLocks noGrp="1"/>
          </p:cNvSpPr>
          <p:nvPr>
            <p:ph type="subTitle" idx="1"/>
          </p:nvPr>
        </p:nvSpPr>
        <p:spPr>
          <a:xfrm>
            <a:off x="2497137" y="3538174"/>
            <a:ext cx="7197726" cy="1405467"/>
          </a:xfrm>
        </p:spPr>
        <p:txBody>
          <a:bodyPr>
            <a:normAutofit/>
          </a:bodyPr>
          <a:lstStyle/>
          <a:p>
            <a:pPr algn="ctr"/>
            <a:r>
              <a:rPr lang="es-MX" dirty="0"/>
              <a:t>UADY Estructura de datos</a:t>
            </a:r>
          </a:p>
          <a:p>
            <a:pPr algn="ctr"/>
            <a:r>
              <a:rPr lang="es-MX" dirty="0"/>
              <a:t>3er semestre</a:t>
            </a:r>
          </a:p>
          <a:p>
            <a:pPr algn="ctr"/>
            <a:r>
              <a:rPr lang="es-MX" dirty="0"/>
              <a:t>Equipo 5</a:t>
            </a:r>
          </a:p>
          <a:p>
            <a:pPr algn="ctr"/>
            <a:endParaRPr lang="es-MX" dirty="0"/>
          </a:p>
        </p:txBody>
      </p:sp>
    </p:spTree>
    <p:extLst>
      <p:ext uri="{BB962C8B-B14F-4D97-AF65-F5344CB8AC3E}">
        <p14:creationId xmlns:p14="http://schemas.microsoft.com/office/powerpoint/2010/main" val="29425222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2A56D1B-D49F-329A-FCC7-704604C5F947}"/>
              </a:ext>
            </a:extLst>
          </p:cNvPr>
          <p:cNvSpPr>
            <a:spLocks noGrp="1"/>
          </p:cNvSpPr>
          <p:nvPr>
            <p:ph type="title"/>
          </p:nvPr>
        </p:nvSpPr>
        <p:spPr>
          <a:xfrm>
            <a:off x="5598925" y="467032"/>
            <a:ext cx="6593075" cy="1612490"/>
          </a:xfrm>
        </p:spPr>
        <p:txBody>
          <a:bodyPr>
            <a:normAutofit/>
          </a:bodyPr>
          <a:lstStyle/>
          <a:p>
            <a:r>
              <a:rPr lang="es-MX" dirty="0"/>
              <a:t>Introducción </a:t>
            </a:r>
          </a:p>
        </p:txBody>
      </p:sp>
      <p:pic>
        <p:nvPicPr>
          <p:cNvPr id="14" name="Imagen 13">
            <a:extLst>
              <a:ext uri="{FF2B5EF4-FFF2-40B4-BE49-F238E27FC236}">
                <a16:creationId xmlns:a16="http://schemas.microsoft.com/office/drawing/2014/main" id="{A0D63419-5510-5AD5-F5A4-05A02B03DC0B}"/>
              </a:ext>
            </a:extLst>
          </p:cNvPr>
          <p:cNvPicPr>
            <a:picLocks noChangeAspect="1"/>
          </p:cNvPicPr>
          <p:nvPr/>
        </p:nvPicPr>
        <p:blipFill>
          <a:blip r:embed="rId3"/>
          <a:stretch>
            <a:fillRect/>
          </a:stretch>
        </p:blipFill>
        <p:spPr>
          <a:xfrm>
            <a:off x="207842" y="1956620"/>
            <a:ext cx="4245198" cy="27137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Marcador de contenido 2">
            <a:extLst>
              <a:ext uri="{FF2B5EF4-FFF2-40B4-BE49-F238E27FC236}">
                <a16:creationId xmlns:a16="http://schemas.microsoft.com/office/drawing/2014/main" id="{23EC58B8-627E-1D20-6227-17994EAA2AE3}"/>
              </a:ext>
            </a:extLst>
          </p:cNvPr>
          <p:cNvSpPr>
            <a:spLocks noGrp="1"/>
          </p:cNvSpPr>
          <p:nvPr>
            <p:ph idx="1"/>
          </p:nvPr>
        </p:nvSpPr>
        <p:spPr>
          <a:xfrm>
            <a:off x="4955458" y="2251587"/>
            <a:ext cx="6593075" cy="3972232"/>
          </a:xfrm>
        </p:spPr>
        <p:txBody>
          <a:bodyPr>
            <a:normAutofit/>
          </a:bodyPr>
          <a:lstStyle/>
          <a:p>
            <a:pPr marL="0" indent="0">
              <a:buNone/>
            </a:pPr>
            <a:r>
              <a:rPr lang="es-ES" dirty="0"/>
              <a:t>El ordenamiento por montículo conocido como </a:t>
            </a:r>
            <a:r>
              <a:rPr lang="es-ES" dirty="0" err="1"/>
              <a:t>heapsort</a:t>
            </a:r>
            <a:r>
              <a:rPr lang="es-ES" dirty="0"/>
              <a:t>, es parte de la familia de algoritmos de ordenamiento por comparación y se basa en la estructura de datos montículo binario (</a:t>
            </a:r>
            <a:r>
              <a:rPr lang="es-ES" dirty="0" err="1"/>
              <a:t>heap</a:t>
            </a:r>
            <a:r>
              <a:rPr lang="es-ES" dirty="0"/>
              <a:t>), ordinariamente un árbol binario completa donde cada nodo padre tiene un valor mayor o igual al de los hijos, conocido como </a:t>
            </a:r>
            <a:r>
              <a:rPr lang="es-ES" dirty="0" err="1"/>
              <a:t>max-heap</a:t>
            </a:r>
            <a:r>
              <a:rPr lang="es-ES" dirty="0"/>
              <a:t>, para arreglar en orden ascendente.</a:t>
            </a:r>
          </a:p>
          <a:p>
            <a:endParaRPr lang="es-ES" dirty="0"/>
          </a:p>
          <a:p>
            <a:pPr marL="0" indent="0">
              <a:buNone/>
            </a:pPr>
            <a:r>
              <a:rPr lang="es-ES" dirty="0"/>
              <a:t>Fue publicado por primera vez por J. W. J. Williams en la revista </a:t>
            </a:r>
            <a:r>
              <a:rPr lang="es-ES" b="1" i="1" dirty="0" err="1"/>
              <a:t>Communications</a:t>
            </a:r>
            <a:r>
              <a:rPr lang="es-ES" b="1" i="1" dirty="0"/>
              <a:t> </a:t>
            </a:r>
            <a:r>
              <a:rPr lang="es-ES" b="1" i="1" dirty="0" err="1"/>
              <a:t>of</a:t>
            </a:r>
            <a:r>
              <a:rPr lang="es-ES" b="1" i="1" dirty="0"/>
              <a:t> </a:t>
            </a:r>
            <a:r>
              <a:rPr lang="es-ES" b="1" i="1" dirty="0" err="1"/>
              <a:t>the</a:t>
            </a:r>
            <a:r>
              <a:rPr lang="es-ES" b="1" i="1" dirty="0"/>
              <a:t> ACM vol. 7 No.6</a:t>
            </a:r>
            <a:r>
              <a:rPr lang="es-ES" dirty="0"/>
              <a:t> en junio de 1964.</a:t>
            </a:r>
          </a:p>
        </p:txBody>
      </p:sp>
    </p:spTree>
    <p:extLst>
      <p:ext uri="{BB962C8B-B14F-4D97-AF65-F5344CB8AC3E}">
        <p14:creationId xmlns:p14="http://schemas.microsoft.com/office/powerpoint/2010/main" val="3757380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03C84E-EEAB-ED26-CF69-62D8C107FD5D}"/>
              </a:ext>
            </a:extLst>
          </p:cNvPr>
          <p:cNvSpPr>
            <a:spLocks noGrp="1"/>
          </p:cNvSpPr>
          <p:nvPr>
            <p:ph type="title"/>
          </p:nvPr>
        </p:nvSpPr>
        <p:spPr>
          <a:xfrm>
            <a:off x="255915" y="0"/>
            <a:ext cx="5137682" cy="1179871"/>
          </a:xfrm>
        </p:spPr>
        <p:txBody>
          <a:bodyPr/>
          <a:lstStyle/>
          <a:p>
            <a:r>
              <a:rPr lang="es-MX" dirty="0"/>
              <a:t>Funcionamiento</a:t>
            </a:r>
          </a:p>
        </p:txBody>
      </p:sp>
      <p:sp>
        <p:nvSpPr>
          <p:cNvPr id="3" name="Marcador de texto 2">
            <a:extLst>
              <a:ext uri="{FF2B5EF4-FFF2-40B4-BE49-F238E27FC236}">
                <a16:creationId xmlns:a16="http://schemas.microsoft.com/office/drawing/2014/main" id="{4E35CD3F-54AE-3D77-2C42-A86BB8E38A64}"/>
              </a:ext>
            </a:extLst>
          </p:cNvPr>
          <p:cNvSpPr>
            <a:spLocks noGrp="1"/>
          </p:cNvSpPr>
          <p:nvPr>
            <p:ph type="body" idx="1"/>
          </p:nvPr>
        </p:nvSpPr>
        <p:spPr>
          <a:xfrm>
            <a:off x="255915" y="1834808"/>
            <a:ext cx="4709054" cy="576262"/>
          </a:xfrm>
        </p:spPr>
        <p:txBody>
          <a:bodyPr/>
          <a:lstStyle/>
          <a:p>
            <a:r>
              <a:rPr lang="es-MX" dirty="0"/>
              <a:t>1) Construir un árbol binario usando un arreglo de datos</a:t>
            </a:r>
          </a:p>
        </p:txBody>
      </p:sp>
      <p:sp>
        <p:nvSpPr>
          <p:cNvPr id="5" name="Marcador de texto 4">
            <a:extLst>
              <a:ext uri="{FF2B5EF4-FFF2-40B4-BE49-F238E27FC236}">
                <a16:creationId xmlns:a16="http://schemas.microsoft.com/office/drawing/2014/main" id="{32C63543-4DFA-E3A0-5629-CAF22BC30AFB}"/>
              </a:ext>
            </a:extLst>
          </p:cNvPr>
          <p:cNvSpPr>
            <a:spLocks noGrp="1"/>
          </p:cNvSpPr>
          <p:nvPr>
            <p:ph type="body" sz="quarter" idx="3"/>
          </p:nvPr>
        </p:nvSpPr>
        <p:spPr>
          <a:xfrm>
            <a:off x="6181705" y="391114"/>
            <a:ext cx="4722813" cy="576262"/>
          </a:xfrm>
        </p:spPr>
        <p:txBody>
          <a:bodyPr/>
          <a:lstStyle/>
          <a:p>
            <a:r>
              <a:rPr lang="es-MX" dirty="0"/>
              <a:t>2) Crear el Max-</a:t>
            </a:r>
            <a:r>
              <a:rPr lang="es-MX" dirty="0" err="1"/>
              <a:t>heap</a:t>
            </a:r>
            <a:endParaRPr lang="es-MX" dirty="0"/>
          </a:p>
        </p:txBody>
      </p:sp>
      <p:sp>
        <p:nvSpPr>
          <p:cNvPr id="6" name="Marcador de contenido 5">
            <a:extLst>
              <a:ext uri="{FF2B5EF4-FFF2-40B4-BE49-F238E27FC236}">
                <a16:creationId xmlns:a16="http://schemas.microsoft.com/office/drawing/2014/main" id="{02FEFB02-6B44-66FE-823C-37FA3904FD6D}"/>
              </a:ext>
            </a:extLst>
          </p:cNvPr>
          <p:cNvSpPr>
            <a:spLocks noGrp="1"/>
          </p:cNvSpPr>
          <p:nvPr>
            <p:ph sz="quarter" idx="4"/>
          </p:nvPr>
        </p:nvSpPr>
        <p:spPr>
          <a:xfrm>
            <a:off x="6181705" y="967376"/>
            <a:ext cx="4995334" cy="2006599"/>
          </a:xfrm>
        </p:spPr>
        <p:txBody>
          <a:bodyPr>
            <a:normAutofit/>
          </a:bodyPr>
          <a:lstStyle/>
          <a:p>
            <a:r>
              <a:rPr lang="es-ES" sz="2000" dirty="0"/>
              <a:t>Primero se ubica el último nodo no-hoja y se compara con sus nodos hijos, si uno de sus hijos es más grande que el padre, intercambian posición, si ambos hijos son más grandes que el padre, se intercambia con el más grande de los dos hijos.</a:t>
            </a:r>
            <a:endParaRPr lang="es-MX" sz="2000" dirty="0"/>
          </a:p>
        </p:txBody>
      </p:sp>
      <p:sp>
        <p:nvSpPr>
          <p:cNvPr id="7" name="Marcador de contenido 6">
            <a:extLst>
              <a:ext uri="{FF2B5EF4-FFF2-40B4-BE49-F238E27FC236}">
                <a16:creationId xmlns:a16="http://schemas.microsoft.com/office/drawing/2014/main" id="{ADEEFBD6-471B-024A-4650-AB0404E6188C}"/>
              </a:ext>
            </a:extLst>
          </p:cNvPr>
          <p:cNvSpPr>
            <a:spLocks noGrp="1"/>
          </p:cNvSpPr>
          <p:nvPr>
            <p:ph sz="half" idx="2"/>
          </p:nvPr>
        </p:nvSpPr>
        <p:spPr/>
        <p:txBody>
          <a:bodyPr/>
          <a:lstStyle/>
          <a:p>
            <a:pPr marL="0" indent="0">
              <a:buNone/>
            </a:pPr>
            <a:r>
              <a:rPr lang="es-MX" dirty="0"/>
              <a:t>[2,8,5,3,9,1]</a:t>
            </a:r>
          </a:p>
          <a:p>
            <a:pPr marL="0" indent="0">
              <a:buNone/>
            </a:pPr>
            <a:endParaRPr lang="es-MX" dirty="0"/>
          </a:p>
          <a:p>
            <a:pPr marL="0" indent="0">
              <a:buNone/>
            </a:pPr>
            <a:endParaRPr lang="es-MX" dirty="0"/>
          </a:p>
          <a:p>
            <a:pPr marL="0" indent="0">
              <a:buNone/>
            </a:pPr>
            <a:br>
              <a:rPr lang="es-MX" dirty="0"/>
            </a:br>
            <a:endParaRPr lang="es-MX" dirty="0"/>
          </a:p>
        </p:txBody>
      </p:sp>
      <p:pic>
        <p:nvPicPr>
          <p:cNvPr id="9" name="Imagen 8">
            <a:extLst>
              <a:ext uri="{FF2B5EF4-FFF2-40B4-BE49-F238E27FC236}">
                <a16:creationId xmlns:a16="http://schemas.microsoft.com/office/drawing/2014/main" id="{A868DC30-7B74-5199-3127-8E1F9F70562F}"/>
              </a:ext>
            </a:extLst>
          </p:cNvPr>
          <p:cNvPicPr>
            <a:picLocks noChangeAspect="1"/>
          </p:cNvPicPr>
          <p:nvPr/>
        </p:nvPicPr>
        <p:blipFill>
          <a:blip r:embed="rId2"/>
          <a:stretch>
            <a:fillRect/>
          </a:stretch>
        </p:blipFill>
        <p:spPr>
          <a:xfrm>
            <a:off x="387479" y="3429000"/>
            <a:ext cx="3928881" cy="25800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1" name="Imagen 10">
            <a:extLst>
              <a:ext uri="{FF2B5EF4-FFF2-40B4-BE49-F238E27FC236}">
                <a16:creationId xmlns:a16="http://schemas.microsoft.com/office/drawing/2014/main" id="{1F8D7AED-8BBF-6B64-4989-8CDDEEA4F17F}"/>
              </a:ext>
            </a:extLst>
          </p:cNvPr>
          <p:cNvPicPr>
            <a:picLocks noChangeAspect="1"/>
          </p:cNvPicPr>
          <p:nvPr/>
        </p:nvPicPr>
        <p:blipFill>
          <a:blip r:embed="rId3"/>
          <a:stretch>
            <a:fillRect/>
          </a:stretch>
        </p:blipFill>
        <p:spPr>
          <a:xfrm>
            <a:off x="6317966" y="3429000"/>
            <a:ext cx="4722812" cy="258000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4147899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61570-2AE2-FB9A-816F-22DB178316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E471F3-7111-789C-5D88-4E5AB69844EA}"/>
              </a:ext>
            </a:extLst>
          </p:cNvPr>
          <p:cNvSpPr>
            <a:spLocks noGrp="1"/>
          </p:cNvSpPr>
          <p:nvPr>
            <p:ph type="title"/>
          </p:nvPr>
        </p:nvSpPr>
        <p:spPr>
          <a:xfrm>
            <a:off x="212567" y="-25638"/>
            <a:ext cx="5137682" cy="1179871"/>
          </a:xfrm>
        </p:spPr>
        <p:txBody>
          <a:bodyPr/>
          <a:lstStyle/>
          <a:p>
            <a:r>
              <a:rPr lang="es-MX" dirty="0"/>
              <a:t>Funcionamiento</a:t>
            </a:r>
          </a:p>
        </p:txBody>
      </p:sp>
      <p:sp>
        <p:nvSpPr>
          <p:cNvPr id="5" name="Marcador de texto 4">
            <a:extLst>
              <a:ext uri="{FF2B5EF4-FFF2-40B4-BE49-F238E27FC236}">
                <a16:creationId xmlns:a16="http://schemas.microsoft.com/office/drawing/2014/main" id="{9F0926DA-754C-B9CE-776C-78960A1BB9D6}"/>
              </a:ext>
            </a:extLst>
          </p:cNvPr>
          <p:cNvSpPr>
            <a:spLocks noGrp="1"/>
          </p:cNvSpPr>
          <p:nvPr>
            <p:ph type="body" sz="quarter" idx="3"/>
          </p:nvPr>
        </p:nvSpPr>
        <p:spPr>
          <a:xfrm>
            <a:off x="420002" y="834676"/>
            <a:ext cx="4722813" cy="576262"/>
          </a:xfrm>
        </p:spPr>
        <p:txBody>
          <a:bodyPr/>
          <a:lstStyle/>
          <a:p>
            <a:r>
              <a:rPr lang="es-MX" dirty="0"/>
              <a:t>2) Crear el Max-</a:t>
            </a:r>
            <a:r>
              <a:rPr lang="es-MX" dirty="0" err="1"/>
              <a:t>heap</a:t>
            </a:r>
            <a:endParaRPr lang="es-MX" dirty="0"/>
          </a:p>
        </p:txBody>
      </p:sp>
      <p:sp>
        <p:nvSpPr>
          <p:cNvPr id="8" name="Marcador de contenido 7">
            <a:extLst>
              <a:ext uri="{FF2B5EF4-FFF2-40B4-BE49-F238E27FC236}">
                <a16:creationId xmlns:a16="http://schemas.microsoft.com/office/drawing/2014/main" id="{472A9BEA-876A-E5C3-E7CB-8DE8E0761838}"/>
              </a:ext>
            </a:extLst>
          </p:cNvPr>
          <p:cNvSpPr>
            <a:spLocks noGrp="1"/>
          </p:cNvSpPr>
          <p:nvPr>
            <p:ph sz="quarter" idx="4"/>
          </p:nvPr>
        </p:nvSpPr>
        <p:spPr>
          <a:xfrm>
            <a:off x="6841753" y="1122807"/>
            <a:ext cx="2150478" cy="512096"/>
          </a:xfrm>
        </p:spPr>
        <p:txBody>
          <a:bodyPr>
            <a:normAutofit/>
          </a:bodyPr>
          <a:lstStyle/>
          <a:p>
            <a:pPr marL="0" indent="0">
              <a:buNone/>
            </a:pPr>
            <a:r>
              <a:rPr lang="es-MX" sz="2000" dirty="0"/>
              <a:t>[9,2,5,3,8,1]</a:t>
            </a:r>
          </a:p>
        </p:txBody>
      </p:sp>
      <p:pic>
        <p:nvPicPr>
          <p:cNvPr id="16" name="Imagen 15">
            <a:extLst>
              <a:ext uri="{FF2B5EF4-FFF2-40B4-BE49-F238E27FC236}">
                <a16:creationId xmlns:a16="http://schemas.microsoft.com/office/drawing/2014/main" id="{ECA50F99-B7D1-4AF4-D0A1-36C30B27D3B5}"/>
              </a:ext>
            </a:extLst>
          </p:cNvPr>
          <p:cNvPicPr>
            <a:picLocks noChangeAspect="1"/>
          </p:cNvPicPr>
          <p:nvPr/>
        </p:nvPicPr>
        <p:blipFill>
          <a:blip r:embed="rId2"/>
          <a:stretch>
            <a:fillRect/>
          </a:stretch>
        </p:blipFill>
        <p:spPr>
          <a:xfrm>
            <a:off x="310637" y="1608434"/>
            <a:ext cx="4275190" cy="28348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Imagen 17">
            <a:extLst>
              <a:ext uri="{FF2B5EF4-FFF2-40B4-BE49-F238E27FC236}">
                <a16:creationId xmlns:a16="http://schemas.microsoft.com/office/drawing/2014/main" id="{44569C8D-F67B-F720-8A02-26ED75C1BB2B}"/>
              </a:ext>
            </a:extLst>
          </p:cNvPr>
          <p:cNvPicPr>
            <a:picLocks noChangeAspect="1"/>
          </p:cNvPicPr>
          <p:nvPr/>
        </p:nvPicPr>
        <p:blipFill>
          <a:blip r:embed="rId3"/>
          <a:stretch>
            <a:fillRect/>
          </a:stretch>
        </p:blipFill>
        <p:spPr>
          <a:xfrm>
            <a:off x="6580567" y="1608434"/>
            <a:ext cx="4722812" cy="283488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993354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D8938-C39F-ABC4-6B35-9E89539E188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08677C-C57D-8CA2-8A25-70C33BCAFF18}"/>
              </a:ext>
            </a:extLst>
          </p:cNvPr>
          <p:cNvSpPr>
            <a:spLocks noGrp="1"/>
          </p:cNvSpPr>
          <p:nvPr>
            <p:ph type="title"/>
          </p:nvPr>
        </p:nvSpPr>
        <p:spPr>
          <a:xfrm>
            <a:off x="331841" y="100252"/>
            <a:ext cx="5137682" cy="1179871"/>
          </a:xfrm>
        </p:spPr>
        <p:txBody>
          <a:bodyPr/>
          <a:lstStyle/>
          <a:p>
            <a:r>
              <a:rPr lang="es-MX" dirty="0"/>
              <a:t>Funcionamiento</a:t>
            </a:r>
          </a:p>
        </p:txBody>
      </p:sp>
      <p:sp>
        <p:nvSpPr>
          <p:cNvPr id="5" name="Marcador de texto 4">
            <a:extLst>
              <a:ext uri="{FF2B5EF4-FFF2-40B4-BE49-F238E27FC236}">
                <a16:creationId xmlns:a16="http://schemas.microsoft.com/office/drawing/2014/main" id="{FD66BF50-51F9-BFFE-AEA4-0028F51DB3C7}"/>
              </a:ext>
            </a:extLst>
          </p:cNvPr>
          <p:cNvSpPr>
            <a:spLocks noGrp="1"/>
          </p:cNvSpPr>
          <p:nvPr>
            <p:ph type="body" sz="quarter" idx="3"/>
          </p:nvPr>
        </p:nvSpPr>
        <p:spPr>
          <a:xfrm>
            <a:off x="6600231" y="3784874"/>
            <a:ext cx="1949571" cy="576262"/>
          </a:xfrm>
        </p:spPr>
        <p:txBody>
          <a:bodyPr/>
          <a:lstStyle/>
          <a:p>
            <a:r>
              <a:rPr lang="es-MX" sz="2400" dirty="0"/>
              <a:t>[1,8,5,3,2,9</a:t>
            </a:r>
            <a:r>
              <a:rPr lang="es-MX" dirty="0"/>
              <a:t>]</a:t>
            </a:r>
          </a:p>
        </p:txBody>
      </p:sp>
      <p:sp>
        <p:nvSpPr>
          <p:cNvPr id="4" name="Marcador de contenido 3">
            <a:extLst>
              <a:ext uri="{FF2B5EF4-FFF2-40B4-BE49-F238E27FC236}">
                <a16:creationId xmlns:a16="http://schemas.microsoft.com/office/drawing/2014/main" id="{AD9E93C9-09DA-FF84-9CFE-DEC981B7EB69}"/>
              </a:ext>
            </a:extLst>
          </p:cNvPr>
          <p:cNvSpPr>
            <a:spLocks noGrp="1"/>
          </p:cNvSpPr>
          <p:nvPr>
            <p:ph sz="quarter" idx="4"/>
          </p:nvPr>
        </p:nvSpPr>
        <p:spPr>
          <a:xfrm>
            <a:off x="6600231" y="220174"/>
            <a:ext cx="4726530" cy="1179871"/>
          </a:xfrm>
        </p:spPr>
        <p:txBody>
          <a:bodyPr>
            <a:normAutofit/>
          </a:bodyPr>
          <a:lstStyle/>
          <a:p>
            <a:pPr marL="0" indent="0">
              <a:buNone/>
            </a:pPr>
            <a:r>
              <a:rPr lang="es-MX" sz="2000" dirty="0"/>
              <a:t>3) Una ves obtenida el </a:t>
            </a:r>
            <a:r>
              <a:rPr lang="es-MX" sz="2000" dirty="0" err="1"/>
              <a:t>max-heap</a:t>
            </a:r>
            <a:r>
              <a:rPr lang="es-MX" sz="2000" dirty="0"/>
              <a:t>, se intercambia con el ultimo elemento del arreglo y se elimina.</a:t>
            </a:r>
          </a:p>
        </p:txBody>
      </p:sp>
      <p:pic>
        <p:nvPicPr>
          <p:cNvPr id="7" name="Imagen 6">
            <a:extLst>
              <a:ext uri="{FF2B5EF4-FFF2-40B4-BE49-F238E27FC236}">
                <a16:creationId xmlns:a16="http://schemas.microsoft.com/office/drawing/2014/main" id="{E62E2EDF-A189-C077-ECF4-180F477D4B37}"/>
              </a:ext>
            </a:extLst>
          </p:cNvPr>
          <p:cNvPicPr>
            <a:picLocks noChangeAspect="1"/>
          </p:cNvPicPr>
          <p:nvPr/>
        </p:nvPicPr>
        <p:blipFill>
          <a:blip r:embed="rId2"/>
          <a:stretch>
            <a:fillRect/>
          </a:stretch>
        </p:blipFill>
        <p:spPr>
          <a:xfrm>
            <a:off x="222808" y="1287497"/>
            <a:ext cx="4225173" cy="292099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Imagen 9">
            <a:extLst>
              <a:ext uri="{FF2B5EF4-FFF2-40B4-BE49-F238E27FC236}">
                <a16:creationId xmlns:a16="http://schemas.microsoft.com/office/drawing/2014/main" id="{E19EA096-1269-26E8-846E-1450E6C74C51}"/>
              </a:ext>
            </a:extLst>
          </p:cNvPr>
          <p:cNvPicPr>
            <a:picLocks noChangeAspect="1"/>
          </p:cNvPicPr>
          <p:nvPr/>
        </p:nvPicPr>
        <p:blipFill>
          <a:blip r:embed="rId3"/>
          <a:stretch>
            <a:fillRect/>
          </a:stretch>
        </p:blipFill>
        <p:spPr>
          <a:xfrm>
            <a:off x="6600231" y="1287497"/>
            <a:ext cx="4052378" cy="214150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Imagen 11">
            <a:extLst>
              <a:ext uri="{FF2B5EF4-FFF2-40B4-BE49-F238E27FC236}">
                <a16:creationId xmlns:a16="http://schemas.microsoft.com/office/drawing/2014/main" id="{9450BFD4-5DC6-C875-A903-67AE6C2A4922}"/>
              </a:ext>
            </a:extLst>
          </p:cNvPr>
          <p:cNvPicPr>
            <a:picLocks noChangeAspect="1"/>
          </p:cNvPicPr>
          <p:nvPr/>
        </p:nvPicPr>
        <p:blipFill>
          <a:blip r:embed="rId4"/>
          <a:stretch>
            <a:fillRect/>
          </a:stretch>
        </p:blipFill>
        <p:spPr>
          <a:xfrm>
            <a:off x="6600231" y="4361137"/>
            <a:ext cx="2612084" cy="240262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22733871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86CED-3521-9C05-A31F-318FBE356731}"/>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C3783589-11FD-702F-3AC9-D2BE8360806B}"/>
              </a:ext>
            </a:extLst>
          </p:cNvPr>
          <p:cNvSpPr>
            <a:spLocks noGrp="1"/>
          </p:cNvSpPr>
          <p:nvPr>
            <p:ph type="body" sz="quarter" idx="3"/>
          </p:nvPr>
        </p:nvSpPr>
        <p:spPr>
          <a:xfrm>
            <a:off x="3938533" y="1468871"/>
            <a:ext cx="1949571" cy="576262"/>
          </a:xfrm>
        </p:spPr>
        <p:txBody>
          <a:bodyPr/>
          <a:lstStyle/>
          <a:p>
            <a:r>
              <a:rPr lang="es-MX" dirty="0"/>
              <a:t>[2,1,5,3,8,9]</a:t>
            </a:r>
          </a:p>
        </p:txBody>
      </p:sp>
      <p:sp>
        <p:nvSpPr>
          <p:cNvPr id="4" name="Marcador de contenido 3">
            <a:extLst>
              <a:ext uri="{FF2B5EF4-FFF2-40B4-BE49-F238E27FC236}">
                <a16:creationId xmlns:a16="http://schemas.microsoft.com/office/drawing/2014/main" id="{A6197210-5B9E-A5F9-EA20-44B66CC4BFCB}"/>
              </a:ext>
            </a:extLst>
          </p:cNvPr>
          <p:cNvSpPr>
            <a:spLocks noGrp="1"/>
          </p:cNvSpPr>
          <p:nvPr>
            <p:ph sz="quarter" idx="4"/>
          </p:nvPr>
        </p:nvSpPr>
        <p:spPr>
          <a:xfrm>
            <a:off x="75871" y="289000"/>
            <a:ext cx="5282710" cy="1179871"/>
          </a:xfrm>
        </p:spPr>
        <p:txBody>
          <a:bodyPr>
            <a:noAutofit/>
          </a:bodyPr>
          <a:lstStyle/>
          <a:p>
            <a:pPr marL="0" indent="0">
              <a:buNone/>
            </a:pPr>
            <a:r>
              <a:rPr lang="es-MX" sz="2000" dirty="0"/>
              <a:t>4) Esto nos da un árbol desordenado, pero se arregla realizando los pasos 2 y 3 hasta tener un arreglo vacío y ordenado de mayor a menor</a:t>
            </a:r>
          </a:p>
        </p:txBody>
      </p:sp>
      <p:pic>
        <p:nvPicPr>
          <p:cNvPr id="6" name="Imagen 5">
            <a:extLst>
              <a:ext uri="{FF2B5EF4-FFF2-40B4-BE49-F238E27FC236}">
                <a16:creationId xmlns:a16="http://schemas.microsoft.com/office/drawing/2014/main" id="{B1CDC7B8-E9BB-D645-9B76-8EF28A8FEC03}"/>
              </a:ext>
            </a:extLst>
          </p:cNvPr>
          <p:cNvPicPr>
            <a:picLocks noChangeAspect="1"/>
          </p:cNvPicPr>
          <p:nvPr/>
        </p:nvPicPr>
        <p:blipFill>
          <a:blip r:embed="rId2"/>
          <a:stretch>
            <a:fillRect/>
          </a:stretch>
        </p:blipFill>
        <p:spPr>
          <a:xfrm>
            <a:off x="458199" y="1468871"/>
            <a:ext cx="2520975" cy="457796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3" name="Imagen 12">
            <a:extLst>
              <a:ext uri="{FF2B5EF4-FFF2-40B4-BE49-F238E27FC236}">
                <a16:creationId xmlns:a16="http://schemas.microsoft.com/office/drawing/2014/main" id="{A3945B6E-3972-58EF-666A-C9D53C388631}"/>
              </a:ext>
            </a:extLst>
          </p:cNvPr>
          <p:cNvPicPr>
            <a:picLocks noChangeAspect="1"/>
          </p:cNvPicPr>
          <p:nvPr/>
        </p:nvPicPr>
        <p:blipFill>
          <a:blip r:embed="rId3"/>
          <a:stretch>
            <a:fillRect/>
          </a:stretch>
        </p:blipFill>
        <p:spPr>
          <a:xfrm>
            <a:off x="3838805" y="2148729"/>
            <a:ext cx="2149026" cy="256054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Imagen 14">
            <a:extLst>
              <a:ext uri="{FF2B5EF4-FFF2-40B4-BE49-F238E27FC236}">
                <a16:creationId xmlns:a16="http://schemas.microsoft.com/office/drawing/2014/main" id="{F7F3F11C-F119-551E-0369-0668077C0BD7}"/>
              </a:ext>
            </a:extLst>
          </p:cNvPr>
          <p:cNvPicPr>
            <a:picLocks noChangeAspect="1"/>
          </p:cNvPicPr>
          <p:nvPr/>
        </p:nvPicPr>
        <p:blipFill>
          <a:blip r:embed="rId4"/>
          <a:stretch>
            <a:fillRect/>
          </a:stretch>
        </p:blipFill>
        <p:spPr>
          <a:xfrm>
            <a:off x="6592088" y="1862722"/>
            <a:ext cx="2435788" cy="29176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Imagen 16">
            <a:extLst>
              <a:ext uri="{FF2B5EF4-FFF2-40B4-BE49-F238E27FC236}">
                <a16:creationId xmlns:a16="http://schemas.microsoft.com/office/drawing/2014/main" id="{58C0EE69-E2D9-08B9-2B1B-5CFDD5AA85EA}"/>
              </a:ext>
            </a:extLst>
          </p:cNvPr>
          <p:cNvPicPr>
            <a:picLocks noChangeAspect="1"/>
          </p:cNvPicPr>
          <p:nvPr/>
        </p:nvPicPr>
        <p:blipFill>
          <a:blip r:embed="rId5"/>
          <a:stretch>
            <a:fillRect/>
          </a:stretch>
        </p:blipFill>
        <p:spPr>
          <a:xfrm>
            <a:off x="9508653" y="2416998"/>
            <a:ext cx="2395983" cy="29176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8" name="Marcador de texto 4">
            <a:extLst>
              <a:ext uri="{FF2B5EF4-FFF2-40B4-BE49-F238E27FC236}">
                <a16:creationId xmlns:a16="http://schemas.microsoft.com/office/drawing/2014/main" id="{DC3F3AE6-C589-EF44-C151-F7CBB7607689}"/>
              </a:ext>
            </a:extLst>
          </p:cNvPr>
          <p:cNvSpPr txBox="1">
            <a:spLocks/>
          </p:cNvSpPr>
          <p:nvPr/>
        </p:nvSpPr>
        <p:spPr>
          <a:xfrm>
            <a:off x="9731860" y="1722749"/>
            <a:ext cx="1949571" cy="576262"/>
          </a:xfrm>
          <a:prstGeom prst="rect">
            <a:avLst/>
          </a:prstGeom>
        </p:spPr>
        <p:txBody>
          <a:bodyPr vert="horz" lIns="91440" tIns="45720" rIns="91440" bIns="45720" rtlCol="0" anchor="b">
            <a:noAutofit/>
          </a:bodyPr>
          <a:lstStyle>
            <a:lvl1pPr marL="0" indent="0" algn="l" defTabSz="457200" rtl="0" eaLnBrk="1" latinLnBrk="0" hangingPunct="1">
              <a:spcBef>
                <a:spcPts val="0"/>
              </a:spcBef>
              <a:spcAft>
                <a:spcPts val="1000"/>
              </a:spcAft>
              <a:buClr>
                <a:schemeClr val="tx1"/>
              </a:buClr>
              <a:buSzPct val="100000"/>
              <a:buFont typeface="Arial"/>
              <a:buNone/>
              <a:defRPr sz="2800" b="0" kern="1200" cap="none">
                <a:solidFill>
                  <a:schemeClr val="tx1"/>
                </a:solidFill>
                <a:effectLst/>
                <a:latin typeface="+mn-lt"/>
                <a:ea typeface="+mn-ea"/>
                <a:cs typeface="+mn-cs"/>
              </a:defRPr>
            </a:lvl1pPr>
            <a:lvl2pPr marL="457200" indent="0" algn="l" defTabSz="457200" rtl="0" eaLnBrk="1" latinLnBrk="0" hangingPunct="1">
              <a:spcBef>
                <a:spcPts val="0"/>
              </a:spcBef>
              <a:spcAft>
                <a:spcPts val="1000"/>
              </a:spcAft>
              <a:buClr>
                <a:schemeClr val="tx1"/>
              </a:buClr>
              <a:buSzPct val="100000"/>
              <a:buFont typeface="Arial"/>
              <a:buNone/>
              <a:defRPr sz="2000" b="1" kern="1200" cap="none">
                <a:solidFill>
                  <a:schemeClr val="tx1"/>
                </a:solidFill>
                <a:effectLst/>
                <a:latin typeface="+mn-lt"/>
                <a:ea typeface="+mn-ea"/>
                <a:cs typeface="+mn-cs"/>
              </a:defRPr>
            </a:lvl2pPr>
            <a:lvl3pPr marL="914400" indent="0" algn="l" defTabSz="457200" rtl="0" eaLnBrk="1" latinLnBrk="0" hangingPunct="1">
              <a:spcBef>
                <a:spcPts val="0"/>
              </a:spcBef>
              <a:spcAft>
                <a:spcPts val="1000"/>
              </a:spcAft>
              <a:buClr>
                <a:schemeClr val="tx1"/>
              </a:buClr>
              <a:buSzPct val="100000"/>
              <a:buFont typeface="Arial"/>
              <a:buNone/>
              <a:defRPr sz="1800" b="1" kern="1200" cap="none">
                <a:solidFill>
                  <a:schemeClr val="tx1"/>
                </a:solidFill>
                <a:effectLst/>
                <a:latin typeface="+mn-lt"/>
                <a:ea typeface="+mn-ea"/>
                <a:cs typeface="+mn-cs"/>
              </a:defRPr>
            </a:lvl3pPr>
            <a:lvl4pPr marL="13716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4pPr>
            <a:lvl5pPr marL="18288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5pPr>
            <a:lvl6pPr marL="22860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6pPr>
            <a:lvl7pPr marL="27432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7pPr>
            <a:lvl8pPr marL="32004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8pPr>
            <a:lvl9pPr marL="3657600" indent="0" algn="l" defTabSz="457200" rtl="0" eaLnBrk="1" latinLnBrk="0" hangingPunct="1">
              <a:spcBef>
                <a:spcPts val="0"/>
              </a:spcBef>
              <a:spcAft>
                <a:spcPts val="1000"/>
              </a:spcAft>
              <a:buClr>
                <a:schemeClr val="tx1"/>
              </a:buClr>
              <a:buSzPct val="100000"/>
              <a:buFont typeface="Arial"/>
              <a:buNone/>
              <a:defRPr sz="1600" b="1" kern="1200" cap="none">
                <a:solidFill>
                  <a:schemeClr val="tx1"/>
                </a:solidFill>
                <a:effectLst/>
                <a:latin typeface="+mn-lt"/>
                <a:ea typeface="+mn-ea"/>
                <a:cs typeface="+mn-cs"/>
              </a:defRPr>
            </a:lvl9pPr>
          </a:lstStyle>
          <a:p>
            <a:r>
              <a:rPr lang="es-MX" dirty="0"/>
              <a:t>[1,3,2,5,8,9]</a:t>
            </a:r>
          </a:p>
        </p:txBody>
      </p:sp>
    </p:spTree>
    <p:extLst>
      <p:ext uri="{BB962C8B-B14F-4D97-AF65-F5344CB8AC3E}">
        <p14:creationId xmlns:p14="http://schemas.microsoft.com/office/powerpoint/2010/main" val="340355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4AD0A-B50B-6AA3-274F-6803F0E5CCFA}"/>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4B0D510F-6E03-CB66-B54B-2615860DB995}"/>
              </a:ext>
            </a:extLst>
          </p:cNvPr>
          <p:cNvSpPr>
            <a:spLocks noGrp="1"/>
          </p:cNvSpPr>
          <p:nvPr>
            <p:ph type="body" sz="quarter" idx="3"/>
          </p:nvPr>
        </p:nvSpPr>
        <p:spPr>
          <a:xfrm>
            <a:off x="6620599" y="3044557"/>
            <a:ext cx="1949571" cy="576262"/>
          </a:xfrm>
        </p:spPr>
        <p:txBody>
          <a:bodyPr/>
          <a:lstStyle/>
          <a:p>
            <a:r>
              <a:rPr lang="es-MX" dirty="0"/>
              <a:t>[2,1,3,5,8,9]</a:t>
            </a:r>
          </a:p>
        </p:txBody>
      </p:sp>
      <p:sp>
        <p:nvSpPr>
          <p:cNvPr id="4" name="Marcador de contenido 3">
            <a:extLst>
              <a:ext uri="{FF2B5EF4-FFF2-40B4-BE49-F238E27FC236}">
                <a16:creationId xmlns:a16="http://schemas.microsoft.com/office/drawing/2014/main" id="{28E3DA15-61E3-CB0E-005F-2F87ACA5A339}"/>
              </a:ext>
            </a:extLst>
          </p:cNvPr>
          <p:cNvSpPr>
            <a:spLocks noGrp="1"/>
          </p:cNvSpPr>
          <p:nvPr>
            <p:ph sz="quarter" idx="4"/>
          </p:nvPr>
        </p:nvSpPr>
        <p:spPr>
          <a:xfrm>
            <a:off x="75870" y="289000"/>
            <a:ext cx="8494299" cy="1179871"/>
          </a:xfrm>
        </p:spPr>
        <p:txBody>
          <a:bodyPr>
            <a:noAutofit/>
          </a:bodyPr>
          <a:lstStyle/>
          <a:p>
            <a:pPr marL="0" indent="0">
              <a:buNone/>
            </a:pPr>
            <a:r>
              <a:rPr lang="es-MX" sz="2000" dirty="0"/>
              <a:t>4) Esto nos da un árbol desordenado, pero se arregla realizando los pasos 2 y 3 hasta tener un arreglo vacío y ordenado de mayor a menor</a:t>
            </a:r>
          </a:p>
        </p:txBody>
      </p:sp>
      <p:pic>
        <p:nvPicPr>
          <p:cNvPr id="3" name="Imagen 2">
            <a:extLst>
              <a:ext uri="{FF2B5EF4-FFF2-40B4-BE49-F238E27FC236}">
                <a16:creationId xmlns:a16="http://schemas.microsoft.com/office/drawing/2014/main" id="{DEBCCEF8-3A5D-348C-640A-2EFBD9527300}"/>
              </a:ext>
            </a:extLst>
          </p:cNvPr>
          <p:cNvPicPr>
            <a:picLocks noChangeAspect="1"/>
          </p:cNvPicPr>
          <p:nvPr/>
        </p:nvPicPr>
        <p:blipFill>
          <a:blip r:embed="rId2"/>
          <a:stretch>
            <a:fillRect/>
          </a:stretch>
        </p:blipFill>
        <p:spPr>
          <a:xfrm>
            <a:off x="226322" y="1641519"/>
            <a:ext cx="2304271" cy="22666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8" name="Imagen 7">
            <a:extLst>
              <a:ext uri="{FF2B5EF4-FFF2-40B4-BE49-F238E27FC236}">
                <a16:creationId xmlns:a16="http://schemas.microsoft.com/office/drawing/2014/main" id="{991A1977-75CD-C16C-700F-0352C94A1975}"/>
              </a:ext>
            </a:extLst>
          </p:cNvPr>
          <p:cNvPicPr>
            <a:picLocks noChangeAspect="1"/>
          </p:cNvPicPr>
          <p:nvPr/>
        </p:nvPicPr>
        <p:blipFill>
          <a:blip r:embed="rId3"/>
          <a:stretch>
            <a:fillRect/>
          </a:stretch>
        </p:blipFill>
        <p:spPr>
          <a:xfrm>
            <a:off x="3423460" y="2448632"/>
            <a:ext cx="2352490" cy="19213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0" name="Imagen 9">
            <a:extLst>
              <a:ext uri="{FF2B5EF4-FFF2-40B4-BE49-F238E27FC236}">
                <a16:creationId xmlns:a16="http://schemas.microsoft.com/office/drawing/2014/main" id="{B4D9F39F-0157-0FD3-D2FE-9F1B5114F4C8}"/>
              </a:ext>
            </a:extLst>
          </p:cNvPr>
          <p:cNvPicPr>
            <a:picLocks noChangeAspect="1"/>
          </p:cNvPicPr>
          <p:nvPr/>
        </p:nvPicPr>
        <p:blipFill>
          <a:blip r:embed="rId4"/>
          <a:stretch>
            <a:fillRect/>
          </a:stretch>
        </p:blipFill>
        <p:spPr>
          <a:xfrm>
            <a:off x="6620599" y="3620819"/>
            <a:ext cx="2065199" cy="192135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Imagen 11">
            <a:extLst>
              <a:ext uri="{FF2B5EF4-FFF2-40B4-BE49-F238E27FC236}">
                <a16:creationId xmlns:a16="http://schemas.microsoft.com/office/drawing/2014/main" id="{2F3AC673-5F59-5C45-7234-A4B1B02127EE}"/>
              </a:ext>
            </a:extLst>
          </p:cNvPr>
          <p:cNvPicPr>
            <a:picLocks noChangeAspect="1"/>
          </p:cNvPicPr>
          <p:nvPr/>
        </p:nvPicPr>
        <p:blipFill>
          <a:blip r:embed="rId5"/>
          <a:stretch>
            <a:fillRect/>
          </a:stretch>
        </p:blipFill>
        <p:spPr>
          <a:xfrm>
            <a:off x="9530447" y="677540"/>
            <a:ext cx="2304271" cy="56799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186651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05D91EEE-3849-EB93-620C-69093E33CAF2}"/>
              </a:ext>
            </a:extLst>
          </p:cNvPr>
          <p:cNvSpPr>
            <a:spLocks noGrp="1"/>
          </p:cNvSpPr>
          <p:nvPr>
            <p:ph type="body" idx="1"/>
          </p:nvPr>
        </p:nvSpPr>
        <p:spPr>
          <a:xfrm>
            <a:off x="1415327" y="0"/>
            <a:ext cx="2938975" cy="835895"/>
          </a:xfrm>
        </p:spPr>
        <p:txBody>
          <a:bodyPr/>
          <a:lstStyle/>
          <a:p>
            <a:r>
              <a:rPr lang="es-MX" sz="3600" dirty="0"/>
              <a:t>Ventajas</a:t>
            </a:r>
          </a:p>
        </p:txBody>
      </p:sp>
      <p:sp>
        <p:nvSpPr>
          <p:cNvPr id="4" name="Marcador de contenido 3">
            <a:extLst>
              <a:ext uri="{FF2B5EF4-FFF2-40B4-BE49-F238E27FC236}">
                <a16:creationId xmlns:a16="http://schemas.microsoft.com/office/drawing/2014/main" id="{EF568829-296A-00E6-9A94-715E33AEA834}"/>
              </a:ext>
            </a:extLst>
          </p:cNvPr>
          <p:cNvSpPr>
            <a:spLocks noGrp="1"/>
          </p:cNvSpPr>
          <p:nvPr>
            <p:ph sz="half" idx="2"/>
          </p:nvPr>
        </p:nvSpPr>
        <p:spPr>
          <a:xfrm>
            <a:off x="280214" y="1066801"/>
            <a:ext cx="4996923" cy="5427558"/>
          </a:xfrm>
        </p:spPr>
        <p:txBody>
          <a:bodyPr/>
          <a:lstStyle/>
          <a:p>
            <a:r>
              <a:rPr lang="es-ES" b="1" dirty="0"/>
              <a:t>Tiempo eficiente</a:t>
            </a:r>
            <a:r>
              <a:rPr lang="es-ES" dirty="0"/>
              <a:t>: Los montones tienen una complejidad temporal promedio de O(log n) para insertar y eliminar elementos, lo que los hace eficientes para grandes conjuntos de datos.</a:t>
            </a:r>
          </a:p>
          <a:p>
            <a:r>
              <a:rPr lang="es-ES" b="1" dirty="0"/>
              <a:t>Espacio eficiente</a:t>
            </a:r>
            <a:r>
              <a:rPr lang="es-ES" dirty="0"/>
              <a:t> : Un árbol de montón es un árbol binario completo, por lo tanto, se puede almacenar en una matriz sin desperdiciar espacio.</a:t>
            </a:r>
          </a:p>
          <a:p>
            <a:r>
              <a:rPr lang="es-ES" b="1" dirty="0"/>
              <a:t>Dinámico</a:t>
            </a:r>
            <a:r>
              <a:rPr lang="es-ES" dirty="0"/>
              <a:t>: Los montones se pueden redimensionar dinámicamente a medida que se insertan o eliminan elementos.</a:t>
            </a:r>
          </a:p>
          <a:p>
            <a:r>
              <a:rPr lang="es-ES" b="1" dirty="0"/>
              <a:t>Basado en prioridades:</a:t>
            </a:r>
            <a:r>
              <a:rPr lang="es-ES" dirty="0"/>
              <a:t> Los montones permiten procesar elementos en función de la prioridad, lo que los hace adecuados para aplicaciones en tiempo real, como equilibrio de carga, aplicaciones médicas y análisis del mercado de valores.</a:t>
            </a:r>
            <a:endParaRPr lang="es-MX" dirty="0"/>
          </a:p>
        </p:txBody>
      </p:sp>
      <p:sp>
        <p:nvSpPr>
          <p:cNvPr id="5" name="Marcador de texto 4">
            <a:extLst>
              <a:ext uri="{FF2B5EF4-FFF2-40B4-BE49-F238E27FC236}">
                <a16:creationId xmlns:a16="http://schemas.microsoft.com/office/drawing/2014/main" id="{153E2BC7-AD53-02EF-C49B-B5CF2062240A}"/>
              </a:ext>
            </a:extLst>
          </p:cNvPr>
          <p:cNvSpPr>
            <a:spLocks noGrp="1"/>
          </p:cNvSpPr>
          <p:nvPr>
            <p:ph type="body" sz="quarter" idx="3"/>
          </p:nvPr>
        </p:nvSpPr>
        <p:spPr>
          <a:xfrm>
            <a:off x="8170610" y="230906"/>
            <a:ext cx="4722813" cy="576262"/>
          </a:xfrm>
        </p:spPr>
        <p:txBody>
          <a:bodyPr/>
          <a:lstStyle/>
          <a:p>
            <a:r>
              <a:rPr lang="es-MX" sz="3600" dirty="0"/>
              <a:t>Desventajas</a:t>
            </a:r>
          </a:p>
        </p:txBody>
      </p:sp>
      <p:sp>
        <p:nvSpPr>
          <p:cNvPr id="6" name="Marcador de contenido 5">
            <a:extLst>
              <a:ext uri="{FF2B5EF4-FFF2-40B4-BE49-F238E27FC236}">
                <a16:creationId xmlns:a16="http://schemas.microsoft.com/office/drawing/2014/main" id="{34602649-708C-2B45-A814-153EFB9E013A}"/>
              </a:ext>
            </a:extLst>
          </p:cNvPr>
          <p:cNvSpPr>
            <a:spLocks noGrp="1"/>
          </p:cNvSpPr>
          <p:nvPr>
            <p:ph sz="quarter" idx="4"/>
          </p:nvPr>
        </p:nvSpPr>
        <p:spPr>
          <a:xfrm>
            <a:off x="6914864" y="1066801"/>
            <a:ext cx="4995334" cy="5427558"/>
          </a:xfrm>
        </p:spPr>
        <p:txBody>
          <a:bodyPr/>
          <a:lstStyle/>
          <a:p>
            <a:r>
              <a:rPr lang="es-ES" b="1" dirty="0"/>
              <a:t>Falta de flexibilidad:</a:t>
            </a:r>
            <a:r>
              <a:rPr lang="es-ES" dirty="0"/>
              <a:t> La estructura de datos del montón no es muy flexible, ya que está diseñada para mantener un orden específico de elementos. </a:t>
            </a:r>
          </a:p>
          <a:p>
            <a:r>
              <a:rPr lang="es-ES" b="1" dirty="0"/>
              <a:t>No es ideal para buscar: </a:t>
            </a:r>
            <a:r>
              <a:rPr lang="es-ES" dirty="0"/>
              <a:t>Si bien la estructura de datos del montón permite un acceso eficiente al elemento superior, no es ideal para buscar un elemento específico en el montón.</a:t>
            </a:r>
          </a:p>
          <a:p>
            <a:r>
              <a:rPr lang="es-ES" b="1" dirty="0"/>
              <a:t>No es una estructura de datos estable:  </a:t>
            </a:r>
            <a:r>
              <a:rPr lang="es-ES" dirty="0"/>
              <a:t>Lo que significa que el orden relativo de elementos iguales puede no conservarse cuando se construye o modifica el montón.</a:t>
            </a:r>
          </a:p>
          <a:p>
            <a:r>
              <a:rPr lang="es-MX" b="1" dirty="0"/>
              <a:t>Complejidad: </a:t>
            </a:r>
            <a:r>
              <a:rPr lang="es-ES" dirty="0"/>
              <a:t> Tiene una complejidad temporal en el peor de los casos de O (n log n), que puede no ser óptima para algunas aplicaciones que requieren algoritmos más rápidos</a:t>
            </a:r>
            <a:endParaRPr lang="es-MX" dirty="0"/>
          </a:p>
        </p:txBody>
      </p:sp>
    </p:spTree>
    <p:extLst>
      <p:ext uri="{BB962C8B-B14F-4D97-AF65-F5344CB8AC3E}">
        <p14:creationId xmlns:p14="http://schemas.microsoft.com/office/powerpoint/2010/main" val="32635833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360365E1-277F-A724-4443-21493C916D92}"/>
              </a:ext>
            </a:extLst>
          </p:cNvPr>
          <p:cNvSpPr>
            <a:spLocks noGrp="1"/>
          </p:cNvSpPr>
          <p:nvPr>
            <p:ph type="body" idx="1"/>
          </p:nvPr>
        </p:nvSpPr>
        <p:spPr>
          <a:xfrm>
            <a:off x="432169" y="1716822"/>
            <a:ext cx="4709054" cy="576262"/>
          </a:xfrm>
        </p:spPr>
        <p:txBody>
          <a:bodyPr/>
          <a:lstStyle/>
          <a:p>
            <a:r>
              <a:rPr lang="es-MX" dirty="0"/>
              <a:t>Características Técnicas </a:t>
            </a:r>
          </a:p>
        </p:txBody>
      </p:sp>
      <p:sp>
        <p:nvSpPr>
          <p:cNvPr id="4" name="Marcador de contenido 3">
            <a:extLst>
              <a:ext uri="{FF2B5EF4-FFF2-40B4-BE49-F238E27FC236}">
                <a16:creationId xmlns:a16="http://schemas.microsoft.com/office/drawing/2014/main" id="{B3DE91C6-8EBC-0F35-19FD-734D65D797DB}"/>
              </a:ext>
            </a:extLst>
          </p:cNvPr>
          <p:cNvSpPr>
            <a:spLocks noGrp="1"/>
          </p:cNvSpPr>
          <p:nvPr>
            <p:ph sz="half" idx="2"/>
          </p:nvPr>
        </p:nvSpPr>
        <p:spPr>
          <a:xfrm>
            <a:off x="324741" y="2562160"/>
            <a:ext cx="4816482" cy="2150517"/>
          </a:xfrm>
        </p:spPr>
        <p:txBody>
          <a:bodyPr>
            <a:normAutofit/>
          </a:bodyPr>
          <a:lstStyle/>
          <a:p>
            <a:pPr>
              <a:buFont typeface="Wingdings" panose="05000000000000000000" pitchFamily="2" charset="2"/>
              <a:buChar char="q"/>
            </a:pPr>
            <a:r>
              <a:rPr lang="es-ES" b="1" dirty="0"/>
              <a:t>Estabilidad</a:t>
            </a:r>
            <a:r>
              <a:rPr lang="es-ES" dirty="0"/>
              <a:t>: No es estable (los elementos iguales pueden cambiar de orden).</a:t>
            </a:r>
          </a:p>
          <a:p>
            <a:pPr>
              <a:buFont typeface="Wingdings" panose="05000000000000000000" pitchFamily="2" charset="2"/>
              <a:buChar char="q"/>
            </a:pPr>
            <a:r>
              <a:rPr lang="es-ES" b="1" dirty="0" err="1"/>
              <a:t>In-place</a:t>
            </a:r>
            <a:r>
              <a:rPr lang="es-ES" dirty="0"/>
              <a:t>: Sí, usa O(1) espacio adicional.</a:t>
            </a:r>
          </a:p>
          <a:p>
            <a:pPr>
              <a:buFont typeface="Wingdings" panose="05000000000000000000" pitchFamily="2" charset="2"/>
              <a:buChar char="q"/>
            </a:pPr>
            <a:r>
              <a:rPr lang="es-ES" b="1" dirty="0"/>
              <a:t>Adaptabilidad</a:t>
            </a:r>
            <a:r>
              <a:rPr lang="es-ES" dirty="0"/>
              <a:t>: No es adaptativo; no mejora en listas parcialmente ordenadas.</a:t>
            </a:r>
          </a:p>
        </p:txBody>
      </p:sp>
      <p:sp>
        <p:nvSpPr>
          <p:cNvPr id="5" name="Marcador de texto 4">
            <a:extLst>
              <a:ext uri="{FF2B5EF4-FFF2-40B4-BE49-F238E27FC236}">
                <a16:creationId xmlns:a16="http://schemas.microsoft.com/office/drawing/2014/main" id="{9D674671-A44D-4C71-47B3-2146DDED850A}"/>
              </a:ext>
            </a:extLst>
          </p:cNvPr>
          <p:cNvSpPr>
            <a:spLocks noGrp="1"/>
          </p:cNvSpPr>
          <p:nvPr>
            <p:ph type="body" sz="quarter" idx="3"/>
          </p:nvPr>
        </p:nvSpPr>
        <p:spPr>
          <a:xfrm>
            <a:off x="6728051" y="1725827"/>
            <a:ext cx="4722813" cy="576262"/>
          </a:xfrm>
        </p:spPr>
        <p:txBody>
          <a:bodyPr/>
          <a:lstStyle/>
          <a:p>
            <a:r>
              <a:rPr lang="es-MX" dirty="0"/>
              <a:t>Eficiencia de algoritmo</a:t>
            </a:r>
          </a:p>
        </p:txBody>
      </p:sp>
      <p:sp>
        <p:nvSpPr>
          <p:cNvPr id="6" name="Marcador de contenido 5">
            <a:extLst>
              <a:ext uri="{FF2B5EF4-FFF2-40B4-BE49-F238E27FC236}">
                <a16:creationId xmlns:a16="http://schemas.microsoft.com/office/drawing/2014/main" id="{9B588031-E5B3-5221-4F4E-0837376E26B5}"/>
              </a:ext>
            </a:extLst>
          </p:cNvPr>
          <p:cNvSpPr>
            <a:spLocks noGrp="1"/>
          </p:cNvSpPr>
          <p:nvPr>
            <p:ph sz="quarter" idx="4"/>
          </p:nvPr>
        </p:nvSpPr>
        <p:spPr>
          <a:xfrm>
            <a:off x="6570734" y="2562160"/>
            <a:ext cx="4564567" cy="2502210"/>
          </a:xfrm>
        </p:spPr>
        <p:txBody>
          <a:bodyPr>
            <a:normAutofit/>
          </a:bodyPr>
          <a:lstStyle/>
          <a:p>
            <a:pPr>
              <a:buFont typeface="Wingdings" panose="05000000000000000000" pitchFamily="2" charset="2"/>
              <a:buChar char="q"/>
            </a:pPr>
            <a:r>
              <a:rPr lang="es-MX" b="1" dirty="0"/>
              <a:t>Complejidad temporal</a:t>
            </a:r>
            <a:r>
              <a:rPr lang="es-MX" dirty="0"/>
              <a:t>:</a:t>
            </a:r>
            <a:br>
              <a:rPr lang="es-MX" dirty="0"/>
            </a:br>
            <a:r>
              <a:rPr lang="es-MX" dirty="0"/>
              <a:t> Mejor caso: </a:t>
            </a:r>
            <a:r>
              <a:rPr lang="el-GR" dirty="0"/>
              <a:t>Θ(</a:t>
            </a:r>
            <a:r>
              <a:rPr lang="es-MX" dirty="0"/>
              <a:t>n log n)</a:t>
            </a:r>
            <a:br>
              <a:rPr lang="es-MX" dirty="0"/>
            </a:br>
            <a:r>
              <a:rPr lang="es-MX" dirty="0"/>
              <a:t> Caso promedio: </a:t>
            </a:r>
            <a:r>
              <a:rPr lang="el-GR" dirty="0"/>
              <a:t>Θ(</a:t>
            </a:r>
            <a:r>
              <a:rPr lang="es-MX" dirty="0"/>
              <a:t>n log n)</a:t>
            </a:r>
            <a:br>
              <a:rPr lang="es-MX" dirty="0"/>
            </a:br>
            <a:r>
              <a:rPr lang="es-MX" dirty="0"/>
              <a:t> Peor caso: </a:t>
            </a:r>
            <a:r>
              <a:rPr lang="el-GR" dirty="0"/>
              <a:t>Θ(</a:t>
            </a:r>
            <a:r>
              <a:rPr lang="es-MX" dirty="0"/>
              <a:t>n log n)</a:t>
            </a:r>
          </a:p>
          <a:p>
            <a:pPr>
              <a:buFont typeface="Wingdings" panose="05000000000000000000" pitchFamily="2" charset="2"/>
              <a:buChar char="q"/>
            </a:pPr>
            <a:br>
              <a:rPr lang="es-MX" dirty="0"/>
            </a:br>
            <a:r>
              <a:rPr lang="es-MX" b="1" dirty="0"/>
              <a:t>Complejidad espacial</a:t>
            </a:r>
            <a:r>
              <a:rPr lang="es-MX" dirty="0"/>
              <a:t>:</a:t>
            </a:r>
            <a:br>
              <a:rPr lang="es-MX" dirty="0"/>
            </a:br>
            <a:r>
              <a:rPr lang="es-MX" dirty="0"/>
              <a:t>-Espacio adicional: </a:t>
            </a:r>
            <a:r>
              <a:rPr lang="el-GR" dirty="0"/>
              <a:t>Θ(1)</a:t>
            </a:r>
            <a:br>
              <a:rPr lang="el-GR" dirty="0"/>
            </a:br>
            <a:endParaRPr lang="es-MX" dirty="0"/>
          </a:p>
        </p:txBody>
      </p:sp>
    </p:spTree>
    <p:extLst>
      <p:ext uri="{BB962C8B-B14F-4D97-AF65-F5344CB8AC3E}">
        <p14:creationId xmlns:p14="http://schemas.microsoft.com/office/powerpoint/2010/main" val="3969992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4C4486-ED7D-0E99-521F-88869556674F}"/>
              </a:ext>
            </a:extLst>
          </p:cNvPr>
          <p:cNvSpPr>
            <a:spLocks noGrp="1"/>
          </p:cNvSpPr>
          <p:nvPr>
            <p:ph type="title"/>
          </p:nvPr>
        </p:nvSpPr>
        <p:spPr>
          <a:xfrm>
            <a:off x="685802" y="877449"/>
            <a:ext cx="10131425" cy="1456267"/>
          </a:xfrm>
        </p:spPr>
        <p:txBody>
          <a:bodyPr/>
          <a:lstStyle/>
          <a:p>
            <a:r>
              <a:rPr lang="es-MX" dirty="0"/>
              <a:t>Comparación Otros Algoritmos </a:t>
            </a:r>
          </a:p>
        </p:txBody>
      </p:sp>
      <p:graphicFrame>
        <p:nvGraphicFramePr>
          <p:cNvPr id="4" name="Marcador de contenido 3">
            <a:extLst>
              <a:ext uri="{FF2B5EF4-FFF2-40B4-BE49-F238E27FC236}">
                <a16:creationId xmlns:a16="http://schemas.microsoft.com/office/drawing/2014/main" id="{1D1B5BA5-AFEB-0C0C-5C52-F67701B38AB3}"/>
              </a:ext>
            </a:extLst>
          </p:cNvPr>
          <p:cNvGraphicFramePr>
            <a:graphicFrameLocks noGrp="1"/>
          </p:cNvGraphicFramePr>
          <p:nvPr>
            <p:ph idx="1"/>
            <p:extLst>
              <p:ext uri="{D42A27DB-BD31-4B8C-83A1-F6EECF244321}">
                <p14:modId xmlns:p14="http://schemas.microsoft.com/office/powerpoint/2010/main" val="1047169561"/>
              </p:ext>
            </p:extLst>
          </p:nvPr>
        </p:nvGraphicFramePr>
        <p:xfrm>
          <a:off x="685801" y="2467897"/>
          <a:ext cx="10131426" cy="2505332"/>
        </p:xfrm>
        <a:graphic>
          <a:graphicData uri="http://schemas.openxmlformats.org/drawingml/2006/table">
            <a:tbl>
              <a:tblPr firstRow="1" bandRow="1">
                <a:tableStyleId>{3C2FFA5D-87B4-456A-9821-1D502468CF0F}</a:tableStyleId>
              </a:tblPr>
              <a:tblGrid>
                <a:gridCol w="1688571">
                  <a:extLst>
                    <a:ext uri="{9D8B030D-6E8A-4147-A177-3AD203B41FA5}">
                      <a16:colId xmlns:a16="http://schemas.microsoft.com/office/drawing/2014/main" val="3173269981"/>
                    </a:ext>
                  </a:extLst>
                </a:gridCol>
                <a:gridCol w="1688571">
                  <a:extLst>
                    <a:ext uri="{9D8B030D-6E8A-4147-A177-3AD203B41FA5}">
                      <a16:colId xmlns:a16="http://schemas.microsoft.com/office/drawing/2014/main" val="2861075066"/>
                    </a:ext>
                  </a:extLst>
                </a:gridCol>
                <a:gridCol w="1688571">
                  <a:extLst>
                    <a:ext uri="{9D8B030D-6E8A-4147-A177-3AD203B41FA5}">
                      <a16:colId xmlns:a16="http://schemas.microsoft.com/office/drawing/2014/main" val="43269299"/>
                    </a:ext>
                  </a:extLst>
                </a:gridCol>
                <a:gridCol w="1688571">
                  <a:extLst>
                    <a:ext uri="{9D8B030D-6E8A-4147-A177-3AD203B41FA5}">
                      <a16:colId xmlns:a16="http://schemas.microsoft.com/office/drawing/2014/main" val="1870958578"/>
                    </a:ext>
                  </a:extLst>
                </a:gridCol>
                <a:gridCol w="1688571">
                  <a:extLst>
                    <a:ext uri="{9D8B030D-6E8A-4147-A177-3AD203B41FA5}">
                      <a16:colId xmlns:a16="http://schemas.microsoft.com/office/drawing/2014/main" val="2400742345"/>
                    </a:ext>
                  </a:extLst>
                </a:gridCol>
                <a:gridCol w="1688571">
                  <a:extLst>
                    <a:ext uri="{9D8B030D-6E8A-4147-A177-3AD203B41FA5}">
                      <a16:colId xmlns:a16="http://schemas.microsoft.com/office/drawing/2014/main" val="3505862415"/>
                    </a:ext>
                  </a:extLst>
                </a:gridCol>
              </a:tblGrid>
              <a:tr h="626333">
                <a:tc>
                  <a:txBody>
                    <a:bodyPr/>
                    <a:lstStyle/>
                    <a:p>
                      <a:pPr rtl="0" fontAlgn="t">
                        <a:buNone/>
                      </a:pPr>
                      <a:r>
                        <a:rPr lang="es-MX" sz="2400" b="0" i="0" u="none" strike="noStrike" dirty="0">
                          <a:solidFill>
                            <a:srgbClr val="000000"/>
                          </a:solidFill>
                          <a:effectLst/>
                          <a:latin typeface="+mn-lt"/>
                        </a:rPr>
                        <a:t>Algoritmo</a:t>
                      </a:r>
                      <a:endParaRPr lang="es-MX" sz="2400" dirty="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Estabilidad</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In-place</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Mejor</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Promedio</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Peor</a:t>
                      </a:r>
                      <a:endParaRPr lang="es-MX" sz="2400">
                        <a:effectLst/>
                        <a:latin typeface="+mn-lt"/>
                      </a:endParaRPr>
                    </a:p>
                  </a:txBody>
                  <a:tcPr marL="63500" marR="63500"/>
                </a:tc>
                <a:extLst>
                  <a:ext uri="{0D108BD9-81ED-4DB2-BD59-A6C34878D82A}">
                    <a16:rowId xmlns:a16="http://schemas.microsoft.com/office/drawing/2014/main" val="4096273811"/>
                  </a:ext>
                </a:extLst>
              </a:tr>
              <a:tr h="626333">
                <a:tc>
                  <a:txBody>
                    <a:bodyPr/>
                    <a:lstStyle/>
                    <a:p>
                      <a:pPr rtl="0" fontAlgn="t">
                        <a:buNone/>
                      </a:pPr>
                      <a:r>
                        <a:rPr lang="es-MX" sz="2400" b="0" i="0" u="none" strike="noStrike">
                          <a:solidFill>
                            <a:srgbClr val="000000"/>
                          </a:solidFill>
                          <a:effectLst/>
                          <a:latin typeface="+mn-lt"/>
                        </a:rPr>
                        <a:t>Heap Sort</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No</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Sí</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extLst>
                  <a:ext uri="{0D108BD9-81ED-4DB2-BD59-A6C34878D82A}">
                    <a16:rowId xmlns:a16="http://schemas.microsoft.com/office/drawing/2014/main" val="3088508706"/>
                  </a:ext>
                </a:extLst>
              </a:tr>
              <a:tr h="626333">
                <a:tc>
                  <a:txBody>
                    <a:bodyPr/>
                    <a:lstStyle/>
                    <a:p>
                      <a:pPr rtl="0" fontAlgn="t">
                        <a:buNone/>
                      </a:pPr>
                      <a:r>
                        <a:rPr lang="es-MX" sz="2400" b="0" i="0" u="none" strike="noStrike">
                          <a:solidFill>
                            <a:srgbClr val="000000"/>
                          </a:solidFill>
                          <a:effectLst/>
                          <a:latin typeface="+mn-lt"/>
                        </a:rPr>
                        <a:t>Merge Sort</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Sí</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No</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extLst>
                  <a:ext uri="{0D108BD9-81ED-4DB2-BD59-A6C34878D82A}">
                    <a16:rowId xmlns:a16="http://schemas.microsoft.com/office/drawing/2014/main" val="4018303399"/>
                  </a:ext>
                </a:extLst>
              </a:tr>
              <a:tr h="626333">
                <a:tc>
                  <a:txBody>
                    <a:bodyPr/>
                    <a:lstStyle/>
                    <a:p>
                      <a:pPr rtl="0" fontAlgn="t">
                        <a:buNone/>
                      </a:pPr>
                      <a:r>
                        <a:rPr lang="es-MX" sz="2400" b="0" i="0" u="none" strike="noStrike">
                          <a:solidFill>
                            <a:srgbClr val="000000"/>
                          </a:solidFill>
                          <a:effectLst/>
                          <a:latin typeface="+mn-lt"/>
                        </a:rPr>
                        <a:t>Quick Sort</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No</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Sí</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tc>
                  <a:txBody>
                    <a:bodyPr/>
                    <a:lstStyle/>
                    <a:p>
                      <a:pPr rtl="0" fontAlgn="t">
                        <a:buNone/>
                      </a:pPr>
                      <a:r>
                        <a:rPr lang="es-MX" sz="2400" b="0" i="0" u="none" strike="noStrike">
                          <a:solidFill>
                            <a:srgbClr val="000000"/>
                          </a:solidFill>
                          <a:effectLst/>
                          <a:latin typeface="+mn-lt"/>
                        </a:rPr>
                        <a:t>n log n</a:t>
                      </a:r>
                      <a:endParaRPr lang="es-MX" sz="2400">
                        <a:effectLst/>
                        <a:latin typeface="+mn-lt"/>
                      </a:endParaRPr>
                    </a:p>
                  </a:txBody>
                  <a:tcPr marL="63500" marR="63500"/>
                </a:tc>
                <a:tc>
                  <a:txBody>
                    <a:bodyPr/>
                    <a:lstStyle/>
                    <a:p>
                      <a:pPr rtl="0" fontAlgn="t">
                        <a:buNone/>
                      </a:pPr>
                      <a:r>
                        <a:rPr lang="es-MX" sz="2400" b="0" i="0" u="none" strike="noStrike" dirty="0">
                          <a:solidFill>
                            <a:srgbClr val="000000"/>
                          </a:solidFill>
                          <a:effectLst/>
                          <a:latin typeface="+mn-lt"/>
                        </a:rPr>
                        <a:t>n²</a:t>
                      </a:r>
                      <a:endParaRPr lang="es-MX" sz="2400" dirty="0">
                        <a:effectLst/>
                        <a:latin typeface="+mn-lt"/>
                      </a:endParaRPr>
                    </a:p>
                  </a:txBody>
                  <a:tcPr marL="63500" marR="63500"/>
                </a:tc>
                <a:extLst>
                  <a:ext uri="{0D108BD9-81ED-4DB2-BD59-A6C34878D82A}">
                    <a16:rowId xmlns:a16="http://schemas.microsoft.com/office/drawing/2014/main" val="3598387811"/>
                  </a:ext>
                </a:extLst>
              </a:tr>
            </a:tbl>
          </a:graphicData>
        </a:graphic>
      </p:graphicFrame>
    </p:spTree>
    <p:extLst>
      <p:ext uri="{BB962C8B-B14F-4D97-AF65-F5344CB8AC3E}">
        <p14:creationId xmlns:p14="http://schemas.microsoft.com/office/powerpoint/2010/main" val="3958703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BF4F59-1F13-F41A-0BBC-440650FAE188}"/>
              </a:ext>
            </a:extLst>
          </p:cNvPr>
          <p:cNvSpPr>
            <a:spLocks noGrp="1"/>
          </p:cNvSpPr>
          <p:nvPr>
            <p:ph type="title"/>
          </p:nvPr>
        </p:nvSpPr>
        <p:spPr>
          <a:xfrm>
            <a:off x="3763298" y="390832"/>
            <a:ext cx="4259825" cy="1356852"/>
          </a:xfrm>
        </p:spPr>
        <p:txBody>
          <a:bodyPr/>
          <a:lstStyle/>
          <a:p>
            <a:r>
              <a:rPr lang="es-MX" dirty="0"/>
              <a:t>Casos de Uso</a:t>
            </a:r>
          </a:p>
        </p:txBody>
      </p:sp>
      <p:sp>
        <p:nvSpPr>
          <p:cNvPr id="3" name="Marcador de contenido 2">
            <a:extLst>
              <a:ext uri="{FF2B5EF4-FFF2-40B4-BE49-F238E27FC236}">
                <a16:creationId xmlns:a16="http://schemas.microsoft.com/office/drawing/2014/main" id="{394397BB-406C-46F5-E146-39CEC87C0B10}"/>
              </a:ext>
            </a:extLst>
          </p:cNvPr>
          <p:cNvSpPr>
            <a:spLocks noGrp="1"/>
          </p:cNvSpPr>
          <p:nvPr>
            <p:ph idx="1"/>
          </p:nvPr>
        </p:nvSpPr>
        <p:spPr>
          <a:xfrm>
            <a:off x="184356" y="1747684"/>
            <a:ext cx="5420031" cy="3650226"/>
          </a:xfrm>
        </p:spPr>
        <p:txBody>
          <a:bodyPr>
            <a:normAutofit/>
          </a:bodyPr>
          <a:lstStyle/>
          <a:p>
            <a:pPr>
              <a:buFont typeface="Wingdings" panose="05000000000000000000" pitchFamily="2" charset="2"/>
              <a:buChar char="q"/>
            </a:pPr>
            <a:r>
              <a:rPr lang="es-ES" b="1" dirty="0"/>
              <a:t>Escenarios más eficientes: </a:t>
            </a:r>
          </a:p>
          <a:p>
            <a:pPr>
              <a:buFont typeface="Wingdings" panose="05000000000000000000" pitchFamily="2" charset="2"/>
              <a:buChar char="q"/>
            </a:pPr>
            <a:r>
              <a:rPr lang="es-ES" dirty="0"/>
              <a:t>Cuando se requiere garantía O(n log n) en todos los casos.</a:t>
            </a:r>
          </a:p>
          <a:p>
            <a:pPr>
              <a:buFont typeface="Wingdings" panose="05000000000000000000" pitchFamily="2" charset="2"/>
              <a:buChar char="q"/>
            </a:pPr>
            <a:r>
              <a:rPr lang="es-ES" dirty="0"/>
              <a:t> Entornos con memoria limitada.</a:t>
            </a:r>
          </a:p>
          <a:p>
            <a:pPr>
              <a:buFont typeface="Wingdings" panose="05000000000000000000" pitchFamily="2" charset="2"/>
              <a:buChar char="q"/>
            </a:pPr>
            <a:r>
              <a:rPr lang="es-ES" dirty="0"/>
              <a:t>Implementaciones de colas de prioridad.</a:t>
            </a:r>
          </a:p>
          <a:p>
            <a:pPr marL="0" indent="0">
              <a:buNone/>
            </a:pPr>
            <a:br>
              <a:rPr lang="es-ES" dirty="0"/>
            </a:br>
            <a:endParaRPr lang="es-MX" dirty="0"/>
          </a:p>
        </p:txBody>
      </p:sp>
      <p:sp>
        <p:nvSpPr>
          <p:cNvPr id="4" name="Marcador de contenido 2">
            <a:extLst>
              <a:ext uri="{FF2B5EF4-FFF2-40B4-BE49-F238E27FC236}">
                <a16:creationId xmlns:a16="http://schemas.microsoft.com/office/drawing/2014/main" id="{00BDD958-B5A7-195F-2E82-66FFB90027FD}"/>
              </a:ext>
            </a:extLst>
          </p:cNvPr>
          <p:cNvSpPr txBox="1">
            <a:spLocks/>
          </p:cNvSpPr>
          <p:nvPr/>
        </p:nvSpPr>
        <p:spPr>
          <a:xfrm>
            <a:off x="6206614" y="1796846"/>
            <a:ext cx="5420031" cy="3650226"/>
          </a:xfrm>
          <a:prstGeom prst="rect">
            <a:avLst/>
          </a:prstGeom>
        </p:spPr>
        <p:txBody>
          <a:bodyPr vert="horz" lIns="91440" tIns="45720" rIns="91440" bIns="45720" rtlCol="0" anchor="ctr">
            <a:normAutofit/>
          </a:bodyPr>
          <a:lst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a:lstStyle>
          <a:p>
            <a:pPr>
              <a:buFont typeface="Wingdings" panose="05000000000000000000" pitchFamily="2" charset="2"/>
              <a:buChar char="q"/>
            </a:pPr>
            <a:r>
              <a:rPr lang="es-ES" b="1" dirty="0"/>
              <a:t>Ejemplos reales</a:t>
            </a:r>
            <a:r>
              <a:rPr lang="es-ES" dirty="0"/>
              <a:t>:</a:t>
            </a:r>
          </a:p>
          <a:p>
            <a:pPr>
              <a:buFont typeface="Wingdings" panose="05000000000000000000" pitchFamily="2" charset="2"/>
              <a:buChar char="q"/>
            </a:pPr>
            <a:r>
              <a:rPr lang="es-ES" dirty="0"/>
              <a:t> Colas de prioridad (CPU </a:t>
            </a:r>
            <a:r>
              <a:rPr lang="es-ES" dirty="0" err="1"/>
              <a:t>scheduling</a:t>
            </a:r>
            <a:r>
              <a:rPr lang="es-ES" dirty="0"/>
              <a:t>, simulaciones).</a:t>
            </a:r>
          </a:p>
          <a:p>
            <a:pPr>
              <a:buFont typeface="Wingdings" panose="05000000000000000000" pitchFamily="2" charset="2"/>
              <a:buChar char="q"/>
            </a:pPr>
            <a:r>
              <a:rPr lang="es-ES" dirty="0"/>
              <a:t> Selección de k-</a:t>
            </a:r>
            <a:r>
              <a:rPr lang="es-ES" dirty="0" err="1"/>
              <a:t>ésimos</a:t>
            </a:r>
            <a:r>
              <a:rPr lang="es-ES" dirty="0"/>
              <a:t> elementos grandes.</a:t>
            </a:r>
          </a:p>
          <a:p>
            <a:pPr>
              <a:buFont typeface="Wingdings" panose="05000000000000000000" pitchFamily="2" charset="2"/>
              <a:buChar char="q"/>
            </a:pPr>
            <a:r>
              <a:rPr lang="es-ES" dirty="0"/>
              <a:t> Renderización de gráficos (gestión de prioridades).</a:t>
            </a:r>
          </a:p>
          <a:p>
            <a:pPr>
              <a:buFont typeface="Wingdings" panose="05000000000000000000" pitchFamily="2" charset="2"/>
              <a:buChar char="q"/>
            </a:pPr>
            <a:r>
              <a:rPr lang="es-ES" dirty="0"/>
              <a:t> Algoritmos híbridos como </a:t>
            </a:r>
            <a:r>
              <a:rPr lang="es-ES" dirty="0" err="1"/>
              <a:t>Introsort</a:t>
            </a:r>
            <a:r>
              <a:rPr lang="es-ES" dirty="0"/>
              <a:t>.</a:t>
            </a:r>
          </a:p>
          <a:p>
            <a:pPr marL="0" indent="0">
              <a:buNone/>
            </a:pPr>
            <a:br>
              <a:rPr lang="es-ES" dirty="0"/>
            </a:br>
            <a:br>
              <a:rPr lang="es-ES" dirty="0"/>
            </a:br>
            <a:endParaRPr lang="es-MX" dirty="0"/>
          </a:p>
        </p:txBody>
      </p:sp>
    </p:spTree>
    <p:extLst>
      <p:ext uri="{BB962C8B-B14F-4D97-AF65-F5344CB8AC3E}">
        <p14:creationId xmlns:p14="http://schemas.microsoft.com/office/powerpoint/2010/main" val="3136823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710ED6-D3BF-86BD-B9E9-1C4335FF6B31}"/>
              </a:ext>
            </a:extLst>
          </p:cNvPr>
          <p:cNvSpPr>
            <a:spLocks noGrp="1"/>
          </p:cNvSpPr>
          <p:nvPr>
            <p:ph type="title"/>
          </p:nvPr>
        </p:nvSpPr>
        <p:spPr>
          <a:xfrm>
            <a:off x="4412226" y="313539"/>
            <a:ext cx="2952135" cy="1456267"/>
          </a:xfrm>
        </p:spPr>
        <p:txBody>
          <a:bodyPr>
            <a:normAutofit/>
          </a:bodyPr>
          <a:lstStyle/>
          <a:p>
            <a:r>
              <a:rPr lang="es-MX" sz="4000" dirty="0"/>
              <a:t>Conclusión</a:t>
            </a:r>
          </a:p>
        </p:txBody>
      </p:sp>
      <p:sp>
        <p:nvSpPr>
          <p:cNvPr id="3" name="Marcador de contenido 2">
            <a:extLst>
              <a:ext uri="{FF2B5EF4-FFF2-40B4-BE49-F238E27FC236}">
                <a16:creationId xmlns:a16="http://schemas.microsoft.com/office/drawing/2014/main" id="{B1A62E0D-90E4-9BB7-0E5C-EFE3A6EB78E2}"/>
              </a:ext>
            </a:extLst>
          </p:cNvPr>
          <p:cNvSpPr>
            <a:spLocks noGrp="1"/>
          </p:cNvSpPr>
          <p:nvPr>
            <p:ph idx="1"/>
          </p:nvPr>
        </p:nvSpPr>
        <p:spPr>
          <a:xfrm>
            <a:off x="1030287" y="1769806"/>
            <a:ext cx="10131425" cy="4601497"/>
          </a:xfrm>
        </p:spPr>
        <p:txBody>
          <a:bodyPr/>
          <a:lstStyle/>
          <a:p>
            <a:pPr marL="0" indent="0">
              <a:buNone/>
            </a:pPr>
            <a:r>
              <a:rPr lang="es-ES" sz="2000" dirty="0" err="1"/>
              <a:t>Heap</a:t>
            </a:r>
            <a:r>
              <a:rPr lang="es-ES" sz="2000" dirty="0"/>
              <a:t> </a:t>
            </a:r>
            <a:r>
              <a:rPr lang="es-ES" sz="2000" dirty="0" err="1"/>
              <a:t>Sort</a:t>
            </a:r>
            <a:r>
              <a:rPr lang="es-ES" sz="2000" dirty="0"/>
              <a:t> es un algoritmo de ordenamiento que garantiza un tiempo de ejecución de O(n log n) en el peor, mejor y caso promedio, lo que lo hace ideal en situaciones donde se requiere rendimiento predecible.</a:t>
            </a:r>
          </a:p>
          <a:p>
            <a:pPr marL="0" indent="0">
              <a:buNone/>
            </a:pPr>
            <a:br>
              <a:rPr lang="es-ES" sz="2000" dirty="0"/>
            </a:br>
            <a:r>
              <a:rPr lang="es-ES" sz="2000" dirty="0"/>
              <a:t>A diferencia de algoritmos como Quick </a:t>
            </a:r>
            <a:r>
              <a:rPr lang="es-ES" sz="2000" dirty="0" err="1"/>
              <a:t>Sort</a:t>
            </a:r>
            <a:r>
              <a:rPr lang="es-ES" sz="2000" dirty="0"/>
              <a:t>, no presenta degradación de rendimiento en casos particulares (como listas ya ordenadas), aunque su rendimiento práctico suele ser inferior debido al mayor número de comparaciones y operaciones no contiguas en memoria.</a:t>
            </a:r>
          </a:p>
          <a:p>
            <a:pPr marL="0" indent="0">
              <a:buNone/>
            </a:pPr>
            <a:r>
              <a:rPr lang="es-ES" sz="2000" dirty="0" err="1"/>
              <a:t>Heap</a:t>
            </a:r>
            <a:r>
              <a:rPr lang="es-ES" sz="2000" dirty="0"/>
              <a:t> </a:t>
            </a:r>
            <a:r>
              <a:rPr lang="es-ES" sz="2000" dirty="0" err="1"/>
              <a:t>Sort</a:t>
            </a:r>
            <a:r>
              <a:rPr lang="es-ES" sz="2000" dirty="0"/>
              <a:t> también se destaca por requerir espacio adicional constante (O(1)), lo que lo vuelve adecuado en sistemas con restricciones de memoria.</a:t>
            </a:r>
            <a:br>
              <a:rPr lang="es-ES" sz="2000" dirty="0"/>
            </a:br>
            <a:r>
              <a:rPr lang="es-ES" sz="2000" dirty="0"/>
              <a:t>Sin embargo, no es estable, por lo que no conserva el orden relativo de elementos iguales, lo que puede ser una limitación en ciertos contextos (como ordenamientos </a:t>
            </a:r>
            <a:r>
              <a:rPr lang="es-ES" sz="2000" dirty="0" err="1"/>
              <a:t>multi-nivel</a:t>
            </a:r>
            <a:r>
              <a:rPr lang="es-ES" sz="2000" dirty="0"/>
              <a:t>).</a:t>
            </a:r>
          </a:p>
          <a:p>
            <a:pPr marL="0" indent="0">
              <a:buNone/>
            </a:pPr>
            <a:endParaRPr lang="es-ES" dirty="0"/>
          </a:p>
          <a:p>
            <a:pPr marL="0" indent="0">
              <a:buNone/>
            </a:pPr>
            <a:endParaRPr lang="es-MX" dirty="0"/>
          </a:p>
        </p:txBody>
      </p:sp>
    </p:spTree>
    <p:extLst>
      <p:ext uri="{BB962C8B-B14F-4D97-AF65-F5344CB8AC3E}">
        <p14:creationId xmlns:p14="http://schemas.microsoft.com/office/powerpoint/2010/main" val="31697919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84</TotalTime>
  <Words>880</Words>
  <Application>Microsoft Office PowerPoint</Application>
  <PresentationFormat>Panorámica</PresentationFormat>
  <Paragraphs>85</Paragraphs>
  <Slides>12</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Calibri Light</vt:lpstr>
      <vt:lpstr>Wingdings</vt:lpstr>
      <vt:lpstr>Celestial</vt:lpstr>
      <vt:lpstr>Ordenamiento por montículos (Heapsort)</vt:lpstr>
      <vt:lpstr>Introducción </vt:lpstr>
      <vt:lpstr>Funcionamiento</vt:lpstr>
      <vt:lpstr>Funcionamiento</vt:lpstr>
      <vt:lpstr>Funcionamiento</vt:lpstr>
      <vt:lpstr>Presentación de PowerPoint</vt:lpstr>
      <vt:lpstr>Presentación de PowerPoint</vt:lpstr>
      <vt:lpstr>Presentación de PowerPoint</vt:lpstr>
      <vt:lpstr>Presentación de PowerPoint</vt:lpstr>
      <vt:lpstr>Comparación Otros Algoritmos </vt:lpstr>
      <vt:lpstr>Casos de Uso</vt:lpstr>
      <vt:lpstr>Conclusión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SANTIAGO CHIQUITO JASSON</dc:creator>
  <cp:lastModifiedBy>SANTIAGO CHIQUITO JASSON</cp:lastModifiedBy>
  <cp:revision>1</cp:revision>
  <dcterms:created xsi:type="dcterms:W3CDTF">2025-10-17T01:27:35Z</dcterms:created>
  <dcterms:modified xsi:type="dcterms:W3CDTF">2025-10-17T02:52:19Z</dcterms:modified>
</cp:coreProperties>
</file>